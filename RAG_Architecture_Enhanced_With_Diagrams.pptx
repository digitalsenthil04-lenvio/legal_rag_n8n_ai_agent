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1C3FAA"/>
                </a:solidFill>
              </a:defRPr>
            </a:pPr>
            <a:r>
              <a:t>RAG Architecture</a:t>
            </a:r>
          </a:p>
          <a:p>
            <a:r>
              <a:t>n8n + Supabase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Professional System Architecture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C3FAA"/>
                </a:solidFill>
              </a:defRPr>
            </a:pPr>
            <a:r>
              <a:t>High-Level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743200" cy="914400"/>
          </a:xfrm>
          <a:prstGeom prst="roundRect">
            <a:avLst/>
          </a:prstGeom>
          <a:solidFill>
            <a:srgbClr val="1C3F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Pipeline 2</a:t>
            </a:r>
          </a:p>
          <a:p>
            <a:r>
              <a:t>(Knowledge Builder)</a:t>
            </a:r>
          </a:p>
          <a:p>
            <a:r>
              <a:t>WRITE → Supabase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645920"/>
            <a:ext cx="2743200" cy="1188720"/>
          </a:xfrm>
          <a:prstGeom prst="roundRect">
            <a:avLst/>
          </a:prstGeom>
          <a:solidFill>
            <a:srgbClr val="2D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Supabase</a:t>
            </a:r>
          </a:p>
          <a:p>
            <a:r>
              <a:t>Shared Vector Database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2743200" cy="914400"/>
          </a:xfrm>
          <a:prstGeom prst="roundRect">
            <a:avLst/>
          </a:prstGeom>
          <a:solidFill>
            <a:srgbClr val="1C3F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Pipeline 1</a:t>
            </a:r>
          </a:p>
          <a:p>
            <a:r>
              <a:t>(Query Engine)</a:t>
            </a:r>
          </a:p>
          <a:p>
            <a:r>
              <a:t>READ ← Supabase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3200400" y="2240280.0"/>
            <a:ext cx="0" cy="45720.0"/>
          </a:xfrm>
          <a:prstGeom prst="line">
            <a:avLst/>
          </a:prstGeom>
          <a:ln w="25400">
            <a:solidFill>
              <a:srgbClr val="00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43600" y="2240280.0"/>
            <a:ext cx="457200" cy="45720.0"/>
          </a:xfrm>
          <a:prstGeom prst="line">
            <a:avLst/>
          </a:prstGeom>
          <a:ln w="25400">
            <a:solidFill>
              <a:srgbClr val="00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C3FAA"/>
                </a:solidFill>
              </a:defRPr>
            </a:pPr>
            <a:r>
              <a:t>Pipeline 2 – Knowledge Base Builder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2286000"/>
            <a:ext cx="1371600" cy="914400"/>
          </a:xfrm>
          <a:prstGeom prst="roundRect">
            <a:avLst/>
          </a:prstGeom>
          <a:solidFill>
            <a:srgbClr val="1C3F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Manual Trigger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37360" y="2286000"/>
            <a:ext cx="1371600" cy="914400"/>
          </a:xfrm>
          <a:prstGeom prst="roundRect">
            <a:avLst/>
          </a:prstGeom>
          <a:solidFill>
            <a:srgbClr val="1C3F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Read PDF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45920" y="2743200.0"/>
            <a:ext cx="91440" cy="0.0"/>
          </a:xfrm>
          <a:prstGeom prst="line">
            <a:avLst/>
          </a:prstGeom>
          <a:ln w="25400">
            <a:solidFill>
              <a:srgbClr val="00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00400" y="2286000"/>
            <a:ext cx="1371600" cy="914400"/>
          </a:xfrm>
          <a:prstGeom prst="roundRect">
            <a:avLst/>
          </a:prstGeom>
          <a:solidFill>
            <a:srgbClr val="1C3F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Extract Text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08960" y="2743200.0"/>
            <a:ext cx="91440" cy="0.0"/>
          </a:xfrm>
          <a:prstGeom prst="line">
            <a:avLst/>
          </a:prstGeom>
          <a:ln w="25400">
            <a:solidFill>
              <a:srgbClr val="00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663440" y="2286000"/>
            <a:ext cx="1371600" cy="914400"/>
          </a:xfrm>
          <a:prstGeom prst="roundRect">
            <a:avLst/>
          </a:prstGeom>
          <a:solidFill>
            <a:srgbClr val="1C3F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Split into Chunks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2743200.0"/>
            <a:ext cx="91440" cy="0.0"/>
          </a:xfrm>
          <a:prstGeom prst="line">
            <a:avLst/>
          </a:prstGeom>
          <a:ln w="25400">
            <a:solidFill>
              <a:srgbClr val="00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26480" y="2286000"/>
            <a:ext cx="1371600" cy="914400"/>
          </a:xfrm>
          <a:prstGeom prst="roundRect">
            <a:avLst/>
          </a:prstGeom>
          <a:solidFill>
            <a:srgbClr val="1C3F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Generate Embeddings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5040" y="2743200.0"/>
            <a:ext cx="91440" cy="0.0"/>
          </a:xfrm>
          <a:prstGeom prst="line">
            <a:avLst/>
          </a:prstGeom>
          <a:ln w="25400">
            <a:solidFill>
              <a:srgbClr val="00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589520" y="2286000"/>
            <a:ext cx="1371600" cy="914400"/>
          </a:xfrm>
          <a:prstGeom prst="roundRect">
            <a:avLst/>
          </a:prstGeom>
          <a:solidFill>
            <a:srgbClr val="1C3F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Store in Supabase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98080" y="2743200.0"/>
            <a:ext cx="91440" cy="0.0"/>
          </a:xfrm>
          <a:prstGeom prst="line">
            <a:avLst/>
          </a:prstGeom>
          <a:ln w="25400">
            <a:solidFill>
              <a:srgbClr val="00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C3FAA"/>
                </a:solidFill>
              </a:defRPr>
            </a:pPr>
            <a:r>
              <a:t>Pipeline 1 – Query Processing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2286000"/>
            <a:ext cx="1371600" cy="914400"/>
          </a:xfrm>
          <a:prstGeom prst="roundRect">
            <a:avLst/>
          </a:prstGeom>
          <a:solidFill>
            <a:srgbClr val="2D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Webhook Trigger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54480" y="2286000"/>
            <a:ext cx="1371600" cy="914400"/>
          </a:xfrm>
          <a:prstGeom prst="roundRect">
            <a:avLst/>
          </a:prstGeom>
          <a:solidFill>
            <a:srgbClr val="2D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Extract Question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54480" y="2743200.0"/>
            <a:ext cx="0" cy="0.0"/>
          </a:xfrm>
          <a:prstGeom prst="line">
            <a:avLst/>
          </a:prstGeom>
          <a:ln w="25400">
            <a:solidFill>
              <a:srgbClr val="00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926080" y="2286000"/>
            <a:ext cx="1371600" cy="914400"/>
          </a:xfrm>
          <a:prstGeom prst="roundRect">
            <a:avLst/>
          </a:prstGeom>
          <a:solidFill>
            <a:srgbClr val="2D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AI Agent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080" y="2743200.0"/>
            <a:ext cx="0" cy="0.0"/>
          </a:xfrm>
          <a:prstGeom prst="line">
            <a:avLst/>
          </a:prstGeom>
          <a:ln w="25400">
            <a:solidFill>
              <a:srgbClr val="00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97680" y="2286000"/>
            <a:ext cx="1371600" cy="914400"/>
          </a:xfrm>
          <a:prstGeom prst="roundRect">
            <a:avLst/>
          </a:prstGeom>
          <a:solidFill>
            <a:srgbClr val="2D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Vector Search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97680" y="2743200.0"/>
            <a:ext cx="0" cy="0.0"/>
          </a:xfrm>
          <a:prstGeom prst="line">
            <a:avLst/>
          </a:prstGeom>
          <a:ln w="25400">
            <a:solidFill>
              <a:srgbClr val="00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669280" y="2286000"/>
            <a:ext cx="1371600" cy="914400"/>
          </a:xfrm>
          <a:prstGeom prst="roundRect">
            <a:avLst/>
          </a:prstGeom>
          <a:solidFill>
            <a:srgbClr val="2D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Retrieve Top Chunks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0" y="2743200.0"/>
            <a:ext cx="0" cy="0.0"/>
          </a:xfrm>
          <a:prstGeom prst="line">
            <a:avLst/>
          </a:prstGeom>
          <a:ln w="25400">
            <a:solidFill>
              <a:srgbClr val="00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040880" y="2286000"/>
            <a:ext cx="1371600" cy="914400"/>
          </a:xfrm>
          <a:prstGeom prst="roundRect">
            <a:avLst/>
          </a:prstGeom>
          <a:solidFill>
            <a:srgbClr val="2D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Generate Answer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0" y="2743200.0"/>
            <a:ext cx="0" cy="0.0"/>
          </a:xfrm>
          <a:prstGeom prst="line">
            <a:avLst/>
          </a:prstGeom>
          <a:ln w="25400">
            <a:solidFill>
              <a:srgbClr val="00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412480" y="2286000"/>
            <a:ext cx="1371600" cy="914400"/>
          </a:xfrm>
          <a:prstGeom prst="roundRect">
            <a:avLst/>
          </a:prstGeom>
          <a:solidFill>
            <a:srgbClr val="2D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Return JSON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12480" y="2743200.0"/>
            <a:ext cx="0" cy="0.0"/>
          </a:xfrm>
          <a:prstGeom prst="line">
            <a:avLst/>
          </a:prstGeom>
          <a:ln w="25400">
            <a:solidFill>
              <a:srgbClr val="00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C3FAA"/>
                </a:solidFill>
              </a:defRPr>
            </a:pPr>
            <a:r>
              <a:t>Key Architectural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independent pipelines connected via Supabase</a:t>
            </a:r>
          </a:p>
          <a:p>
            <a:pPr lvl="1"/>
            <a:r>
              <a:t>Pipeline 2 runs once (build knowledge base)</a:t>
            </a:r>
          </a:p>
          <a:p>
            <a:pPr lvl="1"/>
            <a:r>
              <a:t>Pipeline 1 runs continuously (serve users)</a:t>
            </a:r>
          </a:p>
          <a:p>
            <a:pPr lvl="1"/>
            <a:r>
              <a:t>Vector similarity search enables contextual answers</a:t>
            </a:r>
          </a:p>
          <a:p>
            <a:pPr lvl="1"/>
            <a:r>
              <a:t>Scalable, modular, production-ready RAG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